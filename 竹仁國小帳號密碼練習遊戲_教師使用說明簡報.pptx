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6C5CE7"/>
                </a:solidFill>
                <a:latin typeface="微軟正黑體"/>
              </a:defRPr>
            </a:pPr>
            <a:r>
              <a:t>🎮 竹仁國小 資訊科技教育</a:t>
            </a:r>
          </a:p>
          <a:p>
            <a:pPr>
              <a:spcAft>
                <a:spcPts val="1400"/>
              </a:spcAft>
              <a:defRPr sz="3600" b="1">
                <a:solidFill>
                  <a:srgbClr val="2D3436"/>
                </a:solidFill>
                <a:latin typeface="微軟正黑體"/>
              </a:defRPr>
            </a:pPr>
            <a:r>
              <a:t>學生帳號密碼</a:t>
            </a:r>
            <a:br/>
            <a:r>
              <a:t>打字練習遊戲</a:t>
            </a:r>
          </a:p>
          <a:p>
            <a:pPr>
              <a:spcAft>
                <a:spcPts val="2000"/>
              </a:spcAft>
              <a:defRPr sz="1800" b="1">
                <a:solidFill>
                  <a:srgbClr val="0984E3"/>
                </a:solidFill>
                <a:latin typeface="微軟正黑體"/>
              </a:defRPr>
            </a:pPr>
            <a:r>
              <a:t>【教師操作與教學應用指南】</a:t>
            </a:r>
          </a:p>
          <a:p>
            <a:pPr>
              <a:defRPr sz="1200">
                <a:solidFill>
                  <a:srgbClr val="636E72"/>
                </a:solidFill>
                <a:latin typeface="微軟正黑體"/>
              </a:defRPr>
            </a:pPr>
            <a:r>
              <a:t>• 系統架構：純靜態 GitHub Pages + 雲端 Supabase</a:t>
            </a:r>
            <a:br/>
            <a:r>
              <a:t>• 核心特色：0ms 本地秒速驗證、嚴格禁止複製貼上</a:t>
            </a:r>
            <a:br/>
            <a:r>
              <a:t>• 適用年級：國小三至六年級全校 733 名學生</a:t>
            </a:r>
            <a:br/>
            <a:r>
              <a:t>• 系統網址：yunjundai.github.io/typing-game/</a:t>
            </a:r>
          </a:p>
        </p:txBody>
      </p:sp>
      <p:pic>
        <p:nvPicPr>
          <p:cNvPr id="3" name="Picture 2" descr="zh_typing_game_cover_1789009897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822960"/>
            <a:ext cx="53035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5CE7"/>
                </a:solidFill>
                <a:latin typeface="微軟正黑體"/>
              </a:defRPr>
            </a:pPr>
            <a:r>
              <a:t>竹仁國小 帳號密碼練習遊戲 — 教師使用說明手冊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D3436"/>
                </a:solidFill>
                <a:latin typeface="微軟正黑體"/>
              </a:defRPr>
            </a:pPr>
            <a:r>
              <a:t>🔑 課堂示範必備：教師專用測試帳號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7FF"/>
          </a:solidFill>
          <a:ln w="254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6C5CE7"/>
                </a:solidFill>
                <a:latin typeface="微軟正黑體"/>
              </a:defRPr>
            </a:pPr>
            <a:r>
              <a:t>💡 教師快速示範與功能驗證指南</a:t>
            </a:r>
          </a:p>
          <a:p>
            <a:pPr>
              <a:defRPr b="1" sz="1200">
                <a:solidFill>
                  <a:srgbClr val="2D3436"/>
                </a:solidFill>
                <a:latin typeface="微軟正黑體"/>
              </a:defRPr>
            </a:pPr>
            <a:r>
              <a:t>• 班級座號：</a:t>
            </a:r>
            <a:r>
              <a:rPr b="1" sz="1250">
                <a:solidFill>
                  <a:srgbClr val="0984E3"/>
                </a:solidFill>
              </a:rPr>
              <a:t>308 班 01 號</a:t>
            </a:r>
          </a:p>
          <a:p>
            <a:pPr>
              <a:defRPr b="1" sz="1200">
                <a:solidFill>
                  <a:srgbClr val="2D3436"/>
                </a:solidFill>
                <a:latin typeface="微軟正黑體"/>
              </a:defRPr>
            </a:pPr>
            <a:r>
              <a:t>• 學生姓名：</a:t>
            </a:r>
            <a:r>
              <a:rPr b="1" sz="1250">
                <a:solidFill>
                  <a:srgbClr val="0984E3"/>
                </a:solidFill>
              </a:rPr>
              <a:t>test</a:t>
            </a:r>
          </a:p>
          <a:p>
            <a:pPr>
              <a:defRPr b="1" sz="1200">
                <a:solidFill>
                  <a:srgbClr val="2D3436"/>
                </a:solidFill>
                <a:latin typeface="微軟正黑體"/>
              </a:defRPr>
            </a:pPr>
            <a:r>
              <a:t>• 測試帳號：</a:t>
            </a:r>
            <a:r>
              <a:rPr b="1" sz="1250">
                <a:solidFill>
                  <a:srgbClr val="E17055"/>
                </a:solidFill>
              </a:rPr>
              <a:t>123@cjes.hcc.edu.tw</a:t>
            </a:r>
          </a:p>
          <a:p>
            <a:pPr>
              <a:defRPr b="1" sz="1200">
                <a:solidFill>
                  <a:srgbClr val="2D3436"/>
                </a:solidFill>
                <a:latin typeface="微軟正黑體"/>
              </a:defRPr>
            </a:pPr>
            <a:r>
              <a:t>• 測試密碼：</a:t>
            </a:r>
            <a:r>
              <a:rPr b="1" sz="1250">
                <a:solidFill>
                  <a:srgbClr val="E17055"/>
                </a:solidFill>
              </a:rPr>
              <a:t>123</a:t>
            </a:r>
          </a:p>
          <a:p>
            <a:pPr>
              <a:defRPr b="1" sz="1200">
                <a:solidFill>
                  <a:srgbClr val="2D3436"/>
                </a:solidFill>
                <a:latin typeface="微軟正黑體"/>
              </a:defRPr>
            </a:pPr>
            <a:r>
              <a:t>• 帳號長度：</a:t>
            </a:r>
            <a:r>
              <a:rPr b="1" sz="1250">
                <a:solidFill>
                  <a:srgbClr val="E17055"/>
                </a:solidFill>
              </a:rPr>
              <a:t>20 個字元 (前綴 123 + 學校網域)</a:t>
            </a:r>
          </a:p>
          <a:p>
            <a:pPr>
              <a:defRPr b="1" sz="1200">
                <a:solidFill>
                  <a:srgbClr val="2D3436"/>
                </a:solidFill>
                <a:latin typeface="微軟正黑體"/>
              </a:defRPr>
            </a:pPr>
            <a:r>
              <a:t>• 密碼長度：</a:t>
            </a:r>
            <a:r>
              <a:rPr b="1" sz="1250">
                <a:solidFill>
                  <a:srgbClr val="0984E3"/>
                </a:solidFill>
              </a:rPr>
              <a:t>3 個字元 (好記好打)</a:t>
            </a:r>
          </a:p>
          <a:p>
            <a:br/>
            <a:pPr>
              <a:defRPr sz="1100">
                <a:solidFill>
                  <a:srgbClr val="636E72"/>
                </a:solidFill>
                <a:latin typeface="微軟正黑體"/>
              </a:defRPr>
            </a:pPr>
            <a:r>
              <a:t>📌 教學建議：老師投影上課時，點選「308 班」→「01 test」即可現場展示打字輸入、眼睛切換與防貼上警告，完全不影響真實學生分數！</a:t>
            </a:r>
          </a:p>
        </p:txBody>
      </p:sp>
      <p:pic>
        <p:nvPicPr>
          <p:cNvPr id="5" name="Picture 4" descr="zh_test_account_demo_17890099366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5CE7"/>
                </a:solidFill>
                <a:latin typeface="微軟正黑體"/>
              </a:defRPr>
            </a:pPr>
            <a:r>
              <a:t>竹仁國小 帳號密碼練習遊戲 — 教師使用說明手冊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D3436"/>
                </a:solidFill>
                <a:latin typeface="微軟正黑體"/>
              </a:defRPr>
            </a:pPr>
            <a:r>
              <a:t>🎮 學生遊戲核心介面設計與作答機制</a:t>
            </a:r>
          </a:p>
        </p:txBody>
      </p:sp>
      <p:pic>
        <p:nvPicPr>
          <p:cNvPr id="4" name="Picture 3" descr="zh_battle_gameplay_ui_17890099538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0352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6C5CE7"/>
                </a:solidFill>
                <a:latin typeface="微軟正黑體"/>
              </a:defRPr>
            </a:pPr>
            <a:r>
              <a:t>⚡ 0 秒延遲本地驗證</a:t>
            </a:r>
            <a:br/>
          </a:p>
          <a:p>
            <a:pPr>
              <a:spcAft>
                <a:spcPts val="600"/>
              </a:spcAft>
              <a:defRPr sz="1100">
                <a:solidFill>
                  <a:srgbClr val="636E72"/>
                </a:solidFill>
                <a:latin typeface="微軟正黑體"/>
              </a:defRPr>
            </a:pPr>
            <a:r>
              <a:t>採用前端 Web Crypto SHA-256 原生演算法，答對後 180ms 內順暢切換，打字手感極致絲滑，絕無卡頓感。</a:t>
            </a:r>
            <a:br/>
          </a:p>
          <a:p>
            <a:pPr>
              <a:spcAft>
                <a:spcPts val="200"/>
              </a:spcAft>
              <a:defRPr b="1" sz="1300">
                <a:solidFill>
                  <a:srgbClr val="6C5CE7"/>
                </a:solidFill>
                <a:latin typeface="微軟正黑體"/>
              </a:defRPr>
            </a:pPr>
            <a:r>
              <a:t>🚫 嚴格防止複製貼上</a:t>
            </a:r>
            <a:br/>
          </a:p>
          <a:p>
            <a:pPr>
              <a:spcAft>
                <a:spcPts val="600"/>
              </a:spcAft>
              <a:defRPr sz="1100">
                <a:solidFill>
                  <a:srgbClr val="636E72"/>
                </a:solidFill>
                <a:latin typeface="微軟正黑體"/>
              </a:defRPr>
            </a:pPr>
            <a:r>
              <a:t>封鎖滑鼠右鍵選單、Ctrl+V / Cmd+V / Shift+Insert 快捷鍵與拖曳貼上，貼上會跳出震動警告，確保實力練習。</a:t>
            </a:r>
            <a:br/>
          </a:p>
          <a:p>
            <a:pPr>
              <a:spcAft>
                <a:spcPts val="200"/>
              </a:spcAft>
              <a:defRPr b="1" sz="1300">
                <a:solidFill>
                  <a:srgbClr val="6C5CE7"/>
                </a:solidFill>
                <a:latin typeface="微軟正黑體"/>
              </a:defRPr>
            </a:pPr>
            <a:r>
              <a:t>👁️ 密碼眼睛顯示開關</a:t>
            </a:r>
            <a:br/>
          </a:p>
          <a:p>
            <a:pPr>
              <a:spcAft>
                <a:spcPts val="600"/>
              </a:spcAft>
              <a:defRPr sz="1100">
                <a:solidFill>
                  <a:srgbClr val="636E72"/>
                </a:solidFill>
                <a:latin typeface="微軟正黑體"/>
              </a:defRPr>
            </a:pPr>
            <a:r>
              <a:t>提供密碼明文/密文切換按鈕，協助國小學童自我檢查英數大小寫。</a:t>
            </a:r>
            <a:br/>
          </a:p>
          <a:p>
            <a:pPr>
              <a:spcAft>
                <a:spcPts val="200"/>
              </a:spcAft>
              <a:defRPr b="1" sz="1300">
                <a:solidFill>
                  <a:srgbClr val="6C5CE7"/>
                </a:solidFill>
                <a:latin typeface="微軟正黑體"/>
              </a:defRPr>
            </a:pPr>
            <a:r>
              <a:t>💡 連續打錯智慧提示</a:t>
            </a:r>
            <a:br/>
          </a:p>
          <a:p>
            <a:pPr>
              <a:spcAft>
                <a:spcPts val="600"/>
              </a:spcAft>
              <a:defRPr sz="1100">
                <a:solidFill>
                  <a:srgbClr val="636E72"/>
                </a:solidFill>
                <a:latin typeface="微軟正黑體"/>
              </a:defRPr>
            </a:pPr>
            <a:r>
              <a:t>連續錯誤達 3 次自動顯現提示按鈕，提示遮罩（如 cjes******@...）與字元長度，引導自主訂正。</a:t>
            </a:r>
            <a:br/>
          </a:p>
          <a:p>
            <a:pPr>
              <a:spcAft>
                <a:spcPts val="200"/>
              </a:spcAft>
              <a:defRPr b="1" sz="1300">
                <a:solidFill>
                  <a:srgbClr val="6C5CE7"/>
                </a:solidFill>
                <a:latin typeface="微軟正黑體"/>
              </a:defRPr>
            </a:pPr>
            <a:r>
              <a:t>⏱️ 三種彈性時間模式</a:t>
            </a:r>
            <a:br/>
          </a:p>
          <a:p>
            <a:pPr>
              <a:spcAft>
                <a:spcPts val="600"/>
              </a:spcAft>
              <a:defRPr sz="1100">
                <a:solidFill>
                  <a:srgbClr val="636E72"/>
                </a:solidFill>
                <a:latin typeface="微軟正黑體"/>
              </a:defRPr>
            </a:pPr>
            <a:r>
              <a:t>提供 1 分鐘（快速挑戰）、3 分鐘（標準挑戰）及 5 分鐘（耐力挑戰），因應不同課堂進度。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5CE7"/>
                </a:solidFill>
                <a:latin typeface="微軟正黑體"/>
              </a:defRPr>
            </a:pPr>
            <a:r>
              <a:t>竹仁國小 帳號密碼練習遊戲 — 教師使用說明手冊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D3436"/>
                </a:solidFill>
                <a:latin typeface="微軟正黑體"/>
              </a:defRPr>
            </a:pPr>
            <a:r>
              <a:t>⚙️ 教師管理總控制台（後台通行密碼：5552472）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6C5CE7"/>
                </a:solidFill>
                <a:latin typeface="微軟正黑體"/>
              </a:defRPr>
            </a:pPr>
            <a:r>
              <a:t>Tab 1：📋 學生帳號密碼維護</a:t>
            </a:r>
            <a:br/>
          </a:p>
          <a:p>
            <a:pPr>
              <a:spcAft>
                <a:spcPts val="800"/>
              </a:spcAft>
              <a:defRPr sz="1050">
                <a:solidFill>
                  <a:srgbClr val="2D3436"/>
                </a:solidFill>
                <a:latin typeface="微軟正黑體"/>
              </a:defRPr>
            </a:pPr>
            <a:r>
              <a:t>• 檢視全校 733 名學生班級、座號、姓名與真實帳密。</a:t>
            </a:r>
            <a:br/>
            <a:r>
              <a:t>• 支援快速班級篩選與姓名搜尋。</a:t>
            </a:r>
            <a:br/>
            <a:r>
              <a:t>• 帳號密碼具備「一鍵複製」按鈕，省去手動鍵入。</a:t>
            </a:r>
            <a:br/>
            <a:r>
              <a:t>• 提供「➕ 新增學生」與「🗑️ 刪除學生」即時雲端更新。</a:t>
            </a:r>
            <a:br/>
          </a:p>
          <a:p>
            <a:pPr>
              <a:spcAft>
                <a:spcPts val="200"/>
              </a:spcAft>
              <a:defRPr b="1" sz="1300">
                <a:solidFill>
                  <a:srgbClr val="6C5CE7"/>
                </a:solidFill>
                <a:latin typeface="微軟正黑體"/>
              </a:defRPr>
            </a:pPr>
            <a:r>
              <a:t>Tab 2：📊 學生練習狀況總覽</a:t>
            </a:r>
            <a:br/>
          </a:p>
          <a:p>
            <a:pPr>
              <a:spcAft>
                <a:spcPts val="800"/>
              </a:spcAft>
              <a:defRPr sz="1050">
                <a:solidFill>
                  <a:srgbClr val="2D3436"/>
                </a:solidFill>
                <a:latin typeface="微軟正黑體"/>
              </a:defRPr>
            </a:pPr>
            <a:r>
              <a:t>• 即時看板：顯示已練人數 / 未練人數 (完成率 %)。</a:t>
            </a:r>
            <a:br/>
            <a:r>
              <a:t>• 快速篩選「已完成練習」或「尚未練習」名單。</a:t>
            </a:r>
            <a:br/>
            <a:r>
              <a:t>• 統計每位學生累計練習次數、個人最高分、平均正確率。</a:t>
            </a:r>
            <a:br/>
            <a:r>
              <a:t>• 📥 匯出成績表 (CSV/Excel)：一鍵匯出班級成績。</a:t>
            </a:r>
            <a:br/>
          </a:p>
          <a:p>
            <a:pPr>
              <a:spcAft>
                <a:spcPts val="200"/>
              </a:spcAft>
              <a:defRPr b="1" sz="1300">
                <a:solidFill>
                  <a:srgbClr val="6C5CE7"/>
                </a:solidFill>
                <a:latin typeface="微軟正黑體"/>
              </a:defRPr>
            </a:pPr>
            <a:r>
              <a:t>Tab 3：🏆 排行榜資料管理</a:t>
            </a:r>
            <a:br/>
          </a:p>
          <a:p>
            <a:pPr>
              <a:spcAft>
                <a:spcPts val="800"/>
              </a:spcAft>
              <a:defRPr sz="1050">
                <a:solidFill>
                  <a:srgbClr val="2D3436"/>
                </a:solidFill>
                <a:latin typeface="微軟正黑體"/>
              </a:defRPr>
            </a:pPr>
            <a:r>
              <a:t>• 單筆成績清除：可單獨刪除某筆測試或異常成績。</a:t>
            </a:r>
            <a:br/>
            <a:r>
              <a:t>• 一鍵條件清空：支援年級與時限清除，附防呆二次驗證。</a:t>
            </a:r>
            <a:br/>
            <a:r>
              <a:t>• 📥 匯出排行 (CSV/Excel)：留存學期排行榜紀錄。</a:t>
            </a:r>
            <a:br/>
          </a:p>
        </p:txBody>
      </p:sp>
      <p:pic>
        <p:nvPicPr>
          <p:cNvPr id="5" name="Picture 4" descr="zh_teacher_admin_dashboard_17890099123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1206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5CE7"/>
                </a:solidFill>
                <a:latin typeface="微軟正黑體"/>
              </a:defRPr>
            </a:pPr>
            <a:r>
              <a:t>竹仁國小 帳號密碼練習遊戲 — 教師使用說明手冊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D3436"/>
                </a:solidFill>
                <a:latin typeface="微軟正黑體"/>
              </a:defRPr>
            </a:pPr>
            <a:r>
              <a:t>📥 成績表與排行榜匯出（支援 Excel 與 CSV 格式）</a:t>
            </a:r>
          </a:p>
        </p:txBody>
      </p:sp>
      <p:pic>
        <p:nvPicPr>
          <p:cNvPr id="4" name="Picture 3" descr="zh_export_excel_trophy_17890099685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0352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463040"/>
            <a:ext cx="5120640" cy="47548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00B894"/>
                </a:solidFill>
                <a:latin typeface="微軟正黑體"/>
              </a:defRPr>
            </a:pPr>
            <a:r>
              <a:t>🎯 學期評量與成績登記利器</a:t>
            </a:r>
          </a:p>
          <a:p>
            <a:pPr>
              <a:defRPr b="1" sz="1150">
                <a:solidFill>
                  <a:srgbClr val="2D3436"/>
                </a:solidFill>
                <a:latin typeface="微軟正黑體"/>
              </a:defRPr>
            </a:pPr>
            <a:r>
              <a:t>• 📁 依當前條件智慧匯出：</a:t>
            </a:r>
            <a:r>
              <a:rPr b="0" sz="1100">
                <a:solidFill>
                  <a:srgbClr val="636E72"/>
                </a:solidFill>
              </a:rPr>
              <a:t>在「學生練習狀況總覽」選擇特定班級（例如 301 班）後，點擊匯出按鈕，系統僅會匯出該班學生的成果資料。</a:t>
            </a:r>
          </a:p>
          <a:p>
            <a:pPr>
              <a:defRPr b="1" sz="1150">
                <a:solidFill>
                  <a:srgbClr val="2D3436"/>
                </a:solidFill>
                <a:latin typeface="微軟正黑體"/>
              </a:defRPr>
            </a:pPr>
            <a:r>
              <a:t>• 🛡️ 內建 UTF-8 BOM 防亂碼：</a:t>
            </a:r>
            <a:r>
              <a:rPr b="0" sz="1100">
                <a:solidFill>
                  <a:srgbClr val="636E72"/>
                </a:solidFill>
              </a:rPr>
              <a:t>檔案全面內嵌微軟標準 BOM 標記，直接雙擊 Microsoft Excel、Numbers 或 Google 試算表開啟，繁體中文 100% 正確顯示不亂碼。</a:t>
            </a:r>
          </a:p>
          <a:p>
            <a:pPr>
              <a:defRPr b="1" sz="1150">
                <a:solidFill>
                  <a:srgbClr val="2D3436"/>
                </a:solidFill>
                <a:latin typeface="微軟正黑體"/>
              </a:defRPr>
            </a:pPr>
            <a:r>
              <a:t>• 📋 完整八大欄位記錄：</a:t>
            </a:r>
            <a:r>
              <a:rPr b="0" sz="1100">
                <a:solidFill>
                  <a:srgbClr val="636E72"/>
                </a:solidFill>
              </a:rPr>
              <a:t>班級、座號、姓名、練習狀態（已練/未練）、累計練習次數、個人最高分紀錄、平均正確率(%)、最近練習時間。</a:t>
            </a:r>
          </a:p>
          <a:p>
            <a:pPr>
              <a:defRPr b="1" sz="1150">
                <a:solidFill>
                  <a:srgbClr val="2D3436"/>
                </a:solidFill>
                <a:latin typeface="微軟正黑體"/>
              </a:defRPr>
            </a:pPr>
            <a:r>
              <a:t>• 🏆 榮譽排行榜名單保存：</a:t>
            </a:r>
            <a:r>
              <a:rPr b="0" sz="1100">
                <a:solidFill>
                  <a:srgbClr val="636E72"/>
                </a:solidFill>
              </a:rPr>
              <a:t>排行榜管理分頁亦支援一鍵匯出年級排行榜名次與得分，便於公開表揚與獎狀製作。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5CE7"/>
                </a:solidFill>
                <a:latin typeface="微軟正黑體"/>
              </a:defRPr>
            </a:pPr>
            <a:r>
              <a:t>竹仁國小 帳號密碼練習遊戲 — 教師使用說明手冊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D3436"/>
                </a:solidFill>
                <a:latin typeface="微軟正黑體"/>
              </a:defRPr>
            </a:pPr>
            <a:r>
              <a:t>⏱️ 資訊科技課堂教學活動設計建議（一節課 40 分鐘）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F8F7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6C5CE7"/>
                </a:solidFill>
                <a:latin typeface="微軟正黑體"/>
              </a:rPr>
              <a:t>⏱️ 00 ~ 05 分鐘  </a:t>
            </a:r>
            <a:r>
              <a:rPr b="1" sz="1300">
                <a:solidFill>
                  <a:srgbClr val="0984E3"/>
                </a:solidFill>
                <a:latin typeface="微軟正黑體"/>
              </a:rPr>
              <a:t>【老師投影引起動機】  </a:t>
            </a:r>
            <a:r>
              <a:rPr sz="1150">
                <a:solidFill>
                  <a:srgbClr val="2D3436"/>
                </a:solidFill>
                <a:latin typeface="微軟正黑體"/>
              </a:rPr>
              <a:t>使用大螢幕投影，以【308 01 test】示範 1 分鐘挑戰，示範打字姿勢與嚴格禁止貼上之規則。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F8F7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6C5CE7"/>
                </a:solidFill>
                <a:latin typeface="微軟正黑體"/>
              </a:rPr>
              <a:t>⏱️ 05 ~ 15 分鐘  </a:t>
            </a:r>
            <a:r>
              <a:rPr b="1" sz="1300">
                <a:solidFill>
                  <a:srgbClr val="0984E3"/>
                </a:solidFill>
                <a:latin typeface="微軟正黑體"/>
              </a:rPr>
              <a:t>【全班第 1 次熱身練】  </a:t>
            </a:r>
            <a:r>
              <a:rPr sz="1150">
                <a:solidFill>
                  <a:srgbClr val="2D3436"/>
                </a:solidFill>
                <a:latin typeface="微軟正黑體"/>
              </a:rPr>
              <a:t>學生選擇自己班級與座號，進行【1 分鐘快速挑戰】，熟悉自已的 cjes 帳號與密碼組合。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F8F7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6C5CE7"/>
                </a:solidFill>
                <a:latin typeface="微軟正黑體"/>
              </a:rPr>
              <a:t>⏱️ 15 ~ 20 分鐘  </a:t>
            </a:r>
            <a:r>
              <a:rPr b="1" sz="1300">
                <a:solidFill>
                  <a:srgbClr val="0984E3"/>
                </a:solidFill>
                <a:latin typeface="微軟正黑體"/>
              </a:rPr>
              <a:t>【後台檢視與個別訂正】  </a:t>
            </a:r>
            <a:r>
              <a:rPr sz="1150">
                <a:solidFill>
                  <a:srgbClr val="2D3436"/>
                </a:solidFill>
                <a:latin typeface="微軟正黑體"/>
              </a:rPr>
              <a:t>老師於教師後台切換至「⚠️ 尚未練習」或查看正確率偏低同學，針對易錯字（如 0/O, 1/l）指導。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F8F7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6C5CE7"/>
                </a:solidFill>
                <a:latin typeface="微軟正黑體"/>
              </a:rPr>
              <a:t>⏱️ 20 ~ 35 分鐘  </a:t>
            </a:r>
            <a:r>
              <a:rPr b="1" sz="1300">
                <a:solidFill>
                  <a:srgbClr val="0984E3"/>
                </a:solidFill>
                <a:latin typeface="微軟正黑體"/>
              </a:rPr>
              <a:t>【正式計分與爭霸賽】  </a:t>
            </a:r>
            <a:r>
              <a:rPr sz="1150">
                <a:solidFill>
                  <a:srgbClr val="2D3436"/>
                </a:solidFill>
                <a:latin typeface="微軟正黑體"/>
              </a:rPr>
              <a:t>全班進行【3 分鐘標準挑戰】，鼓勵學生提升打字速度與正確率，挑戰登上全校或年級排行榜！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F8F7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6C5CE7"/>
                </a:solidFill>
                <a:latin typeface="微軟正黑體"/>
              </a:rPr>
              <a:t>⏱️ 35 ~ 40 分鐘  </a:t>
            </a:r>
            <a:r>
              <a:rPr b="1" sz="1300">
                <a:solidFill>
                  <a:srgbClr val="0984E3"/>
                </a:solidFill>
                <a:latin typeface="微軟正黑體"/>
              </a:rPr>
              <a:t>【成果匯出與公開表揚】  </a:t>
            </a:r>
            <a:r>
              <a:rPr sz="1150">
                <a:solidFill>
                  <a:srgbClr val="2D3436"/>
                </a:solidFill>
                <a:latin typeface="微軟正黑體"/>
              </a:rPr>
              <a:t>老師點擊「📥 匯出成績表 (CSV/Excel)」留存班級成果，並投影前三名排行榜給予公開讚美。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